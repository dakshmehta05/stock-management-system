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C7E2"/>
    <a:srgbClr val="4862E2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82"/>
      </p:cViewPr>
      <p:guideLst>
        <p:guide orient="horz" pos="2217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0" y="-479558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3532" y="679144"/>
            <a:ext cx="9466580" cy="55156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25050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Smart Traffic Management System 									   for Urban Congestion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Transportation &amp; Logistics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AlgoRangers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279840" y="121220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8491629" y="2431744"/>
            <a:ext cx="3203509" cy="3426237"/>
          </a:xfrm>
          <a:prstGeom prst="rect">
            <a:avLst/>
          </a:prstGeom>
        </p:spPr>
      </p:pic>
      <p:pic>
        <p:nvPicPr>
          <p:cNvPr id="3" name="Picture 2" descr="https://www.sih.gov.in/img1/SIH-Logo.png">
            <a:extLst>
              <a:ext uri="{FF2B5EF4-FFF2-40B4-BE49-F238E27FC236}">
                <a16:creationId xmlns:a16="http://schemas.microsoft.com/office/drawing/2014/main" id="{1EC4CE48-3687-5F30-AE6E-195F8F021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760" y="61282"/>
            <a:ext cx="1778725" cy="90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584652" y="-5695"/>
            <a:ext cx="10972800" cy="60071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URBANFLOW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27629" y="661992"/>
            <a:ext cx="12192635" cy="609473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 </a:t>
            </a:r>
            <a:endParaRPr lang="en-US" sz="28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5" name="Picture 2" descr="https://www.sih.gov.in/img1/SIH-Logo.png">
            <a:extLst>
              <a:ext uri="{FF2B5EF4-FFF2-40B4-BE49-F238E27FC236}">
                <a16:creationId xmlns:a16="http://schemas.microsoft.com/office/drawing/2014/main" id="{2BE7371D-50E0-C60C-0998-BD1170061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760" y="61282"/>
            <a:ext cx="1778725" cy="90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A0491633-5A3D-D941-5C25-85CE970F6971}"/>
              </a:ext>
            </a:extLst>
          </p:cNvPr>
          <p:cNvSpPr/>
          <p:nvPr/>
        </p:nvSpPr>
        <p:spPr>
          <a:xfrm>
            <a:off x="91619" y="72857"/>
            <a:ext cx="1957100" cy="3987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 err="1"/>
              <a:t>AlgoRangers</a:t>
            </a:r>
            <a:endParaRPr lang="en-US" alt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4AB579-39BD-E66B-DEA2-BA5FD3D3F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64" y="1345166"/>
            <a:ext cx="5758576" cy="541155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B462639-7AE5-11A2-7D42-E414F7A588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1" y="1195725"/>
            <a:ext cx="6004380" cy="55257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6877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0" name="Picture 2" descr="https://www.sih.gov.in/img1/SIH-Logo.png">
            <a:extLst>
              <a:ext uri="{FF2B5EF4-FFF2-40B4-BE49-F238E27FC236}">
                <a16:creationId xmlns:a16="http://schemas.microsoft.com/office/drawing/2014/main" id="{05F73566-7035-CA83-6618-0C577F53D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760" y="61282"/>
            <a:ext cx="1778725" cy="90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8116C15-AED0-7BC2-6A08-94547E019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48811" y="1215857"/>
            <a:ext cx="9094377" cy="5270800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FA601D4-27CC-38D8-5BB1-F51C7135536D}"/>
              </a:ext>
            </a:extLst>
          </p:cNvPr>
          <p:cNvSpPr/>
          <p:nvPr/>
        </p:nvSpPr>
        <p:spPr>
          <a:xfrm>
            <a:off x="91619" y="72857"/>
            <a:ext cx="1957100" cy="3987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 err="1"/>
              <a:t>AlgoRangers</a:t>
            </a:r>
            <a:endParaRPr lang="en-US" alt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94995" y="-24695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9301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2" name="Round Diagonal Corner Rectangle 1"/>
          <p:cNvSpPr/>
          <p:nvPr/>
        </p:nvSpPr>
        <p:spPr>
          <a:xfrm>
            <a:off x="194310" y="1332037"/>
            <a:ext cx="3841115" cy="5240655"/>
          </a:xfrm>
          <a:prstGeom prst="round2Diag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3200" b="1" i="1" dirty="0">
                <a:solidFill>
                  <a:schemeClr val="tx1"/>
                </a:solidFill>
              </a:rPr>
              <a:t>Feasibility</a:t>
            </a:r>
            <a:endParaRPr lang="en-US" sz="2400" b="1" i="1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b="1" dirty="0">
                <a:solidFill>
                  <a:schemeClr val="tx1"/>
                </a:solidFill>
              </a:rPr>
              <a:t>Technical </a:t>
            </a:r>
            <a:r>
              <a:rPr lang="en-US" dirty="0">
                <a:solidFill>
                  <a:schemeClr val="tx1"/>
                </a:solidFill>
              </a:rPr>
              <a:t>: AI + IOT feasible;                           moving dividers complex.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b="1" dirty="0">
                <a:solidFill>
                  <a:schemeClr val="tx1"/>
                </a:solidFill>
              </a:rPr>
              <a:t>Economic </a:t>
            </a:r>
            <a:r>
              <a:rPr lang="en-US" dirty="0">
                <a:solidFill>
                  <a:schemeClr val="tx1"/>
                </a:solidFill>
              </a:rPr>
              <a:t>: Medium – high cost, but long-term benefits.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b="1" dirty="0">
                <a:solidFill>
                  <a:schemeClr val="tx1"/>
                </a:solidFill>
              </a:rPr>
              <a:t>Operational </a:t>
            </a:r>
            <a:r>
              <a:rPr lang="en-US" dirty="0">
                <a:solidFill>
                  <a:schemeClr val="tx1"/>
                </a:solidFill>
              </a:rPr>
              <a:t>: Needs training, maintenance, and a fallback system.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b="1" dirty="0">
                <a:solidFill>
                  <a:schemeClr val="tx1"/>
                </a:solidFill>
              </a:rPr>
              <a:t>Environmental </a:t>
            </a:r>
            <a:r>
              <a:rPr lang="en-US" dirty="0">
                <a:solidFill>
                  <a:schemeClr val="tx1"/>
                </a:solidFill>
              </a:rPr>
              <a:t>: Less carbon emissions.</a:t>
            </a:r>
          </a:p>
        </p:txBody>
      </p:sp>
      <p:sp>
        <p:nvSpPr>
          <p:cNvPr id="5" name="Round Diagonal Corner Rectangle 4"/>
          <p:cNvSpPr/>
          <p:nvPr/>
        </p:nvSpPr>
        <p:spPr>
          <a:xfrm>
            <a:off x="4191952" y="1332037"/>
            <a:ext cx="3778885" cy="5261610"/>
          </a:xfrm>
          <a:prstGeom prst="round2DiagRect">
            <a:avLst/>
          </a:prstGeom>
          <a:solidFill>
            <a:srgbClr val="B0C7E2"/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3200" b="1" i="1" dirty="0">
                <a:solidFill>
                  <a:schemeClr val="tx1"/>
                </a:solidFill>
              </a:rPr>
              <a:t>Challenges &amp; Risks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dirty="0">
                <a:solidFill>
                  <a:schemeClr val="tx1"/>
                </a:solidFill>
              </a:rPr>
              <a:t>Sensor/AI failures, network downtime.</a:t>
            </a:r>
          </a:p>
          <a:p>
            <a:pPr marL="285750" indent="-285750">
              <a:buFont typeface="Wingdings" panose="05000000000000000000" charset="0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dirty="0">
                <a:solidFill>
                  <a:schemeClr val="tx1"/>
                </a:solidFill>
              </a:rPr>
              <a:t>High initial setup &amp; maintenance cost.</a:t>
            </a:r>
          </a:p>
          <a:p>
            <a:pPr marL="285750" indent="-285750">
              <a:buFont typeface="Wingdings" panose="05000000000000000000" charset="0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dirty="0">
                <a:solidFill>
                  <a:schemeClr val="tx1"/>
                </a:solidFill>
              </a:rPr>
              <a:t>Technically skilled manpower needed.</a:t>
            </a:r>
          </a:p>
          <a:p>
            <a:pPr marL="285750" indent="-285750">
              <a:buFont typeface="Wingdings" panose="05000000000000000000" charset="0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dirty="0">
                <a:solidFill>
                  <a:schemeClr val="tx1"/>
                </a:solidFill>
              </a:rPr>
              <a:t>Divider system is expensive &amp; complex and needs new infrastructure.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 Diagonal Corner Rectangle 10"/>
          <p:cNvSpPr/>
          <p:nvPr/>
        </p:nvSpPr>
        <p:spPr>
          <a:xfrm>
            <a:off x="8128000" y="1311082"/>
            <a:ext cx="3806190" cy="526161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3200" b="1" i="1" dirty="0">
                <a:solidFill>
                  <a:schemeClr val="tx1"/>
                </a:solidFill>
              </a:rPr>
              <a:t>Strategies</a:t>
            </a:r>
            <a:endParaRPr lang="en-US" sz="3600" b="1" i="1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Pilot rollout : phased scaling.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Redundancy &amp; fallback timers.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Government funding support.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Training + SOPs for staff.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3" name="Picture 2" descr="https://www.sih.gov.in/img1/SIH-Logo.png">
            <a:extLst>
              <a:ext uri="{FF2B5EF4-FFF2-40B4-BE49-F238E27FC236}">
                <a16:creationId xmlns:a16="http://schemas.microsoft.com/office/drawing/2014/main" id="{0C259F20-FC85-D686-3308-817710FEC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760" y="61282"/>
            <a:ext cx="1778725" cy="90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2AE2B56F-C0E9-05FA-E350-86E477CBF80F}"/>
              </a:ext>
            </a:extLst>
          </p:cNvPr>
          <p:cNvSpPr/>
          <p:nvPr/>
        </p:nvSpPr>
        <p:spPr>
          <a:xfrm>
            <a:off x="91619" y="88097"/>
            <a:ext cx="1957100" cy="3987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 err="1"/>
              <a:t>AlgoRangers</a:t>
            </a:r>
            <a:endParaRPr lang="en-US" alt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4235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F63B8629-7FBB-EF41-3BCA-7D86F880362B}"/>
              </a:ext>
            </a:extLst>
          </p:cNvPr>
          <p:cNvSpPr/>
          <p:nvPr/>
        </p:nvSpPr>
        <p:spPr>
          <a:xfrm>
            <a:off x="411480" y="1191068"/>
            <a:ext cx="5488590" cy="5310236"/>
          </a:xfrm>
          <a:prstGeom prst="roundRect">
            <a:avLst>
              <a:gd name="adj" fmla="val 5063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3200" b="1" i="1" dirty="0">
                <a:solidFill>
                  <a:schemeClr val="tx1"/>
                </a:solidFill>
              </a:rPr>
              <a:t>IMPACTS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Reduced Travel Time</a:t>
            </a:r>
            <a:r>
              <a:rPr lang="en-US" dirty="0">
                <a:solidFill>
                  <a:schemeClr val="tx1"/>
                </a:solidFill>
              </a:rPr>
              <a:t>: Smoother flow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Fuel Efficiency</a:t>
            </a:r>
            <a:r>
              <a:rPr lang="en-US" dirty="0">
                <a:solidFill>
                  <a:schemeClr val="tx1"/>
                </a:solidFill>
              </a:rPr>
              <a:t>: Less idling, lower the fuel consumption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Lives Saved</a:t>
            </a:r>
            <a:r>
              <a:rPr lang="en-US" dirty="0">
                <a:solidFill>
                  <a:schemeClr val="tx1"/>
                </a:solidFill>
              </a:rPr>
              <a:t>: Faster emergency services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Environmental Benefits</a:t>
            </a:r>
            <a:r>
              <a:rPr lang="en-US" dirty="0">
                <a:solidFill>
                  <a:schemeClr val="tx1"/>
                </a:solidFill>
              </a:rPr>
              <a:t>: Reduced carbon emissions.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Economic Growth</a:t>
            </a:r>
            <a:r>
              <a:rPr lang="en-US" dirty="0">
                <a:solidFill>
                  <a:schemeClr val="tx1"/>
                </a:solidFill>
              </a:rPr>
              <a:t>: Saves lakhs of rupees in fuel costs annually for citizens due to less idling.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Citizen Satisfaction</a:t>
            </a:r>
            <a:r>
              <a:rPr lang="en-US" dirty="0">
                <a:solidFill>
                  <a:schemeClr val="tx1"/>
                </a:solidFill>
              </a:rPr>
              <a:t>: Stress-free travel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1"/>
                </a:solidFill>
              </a:rPr>
              <a:t>Smart city</a:t>
            </a:r>
            <a:r>
              <a:rPr lang="en-US" dirty="0">
                <a:solidFill>
                  <a:schemeClr val="tx1"/>
                </a:solidFill>
              </a:rPr>
              <a:t>: Roads are efficiently used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F20E8DA4-7335-AB30-BE78-54059517221D}"/>
              </a:ext>
            </a:extLst>
          </p:cNvPr>
          <p:cNvSpPr/>
          <p:nvPr/>
        </p:nvSpPr>
        <p:spPr>
          <a:xfrm>
            <a:off x="6291931" y="1191068"/>
            <a:ext cx="5488589" cy="5310236"/>
          </a:xfrm>
          <a:prstGeom prst="roundRect">
            <a:avLst>
              <a:gd name="adj" fmla="val 5063"/>
            </a:avLst>
          </a:prstGeom>
          <a:solidFill>
            <a:srgbClr val="B0C7E2"/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3200" b="1" i="1" dirty="0">
                <a:solidFill>
                  <a:schemeClr val="tx1"/>
                </a:solidFill>
              </a:rPr>
              <a:t>BENEFITS</a:t>
            </a:r>
          </a:p>
          <a:p>
            <a:pPr marL="285750" indent="-285750">
              <a:buFont typeface="Wingdings" panose="05000000000000000000" charset="0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dirty="0">
                <a:solidFill>
                  <a:schemeClr val="tx1"/>
                </a:solidFill>
              </a:rPr>
              <a:t>Efficient, flexible, and smart traffic management.</a:t>
            </a:r>
          </a:p>
          <a:p>
            <a:pPr marL="285750" indent="-285750">
              <a:buFont typeface="Wingdings" panose="05000000000000000000" charset="0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dirty="0">
                <a:solidFill>
                  <a:schemeClr val="tx1"/>
                </a:solidFill>
              </a:rPr>
              <a:t>Cost saving (less fuel consumption -&gt; less import duties for the nation annually).</a:t>
            </a:r>
          </a:p>
          <a:p>
            <a:pPr marL="285750" indent="-285750">
              <a:buFont typeface="Wingdings" panose="05000000000000000000" charset="0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dirty="0">
                <a:solidFill>
                  <a:schemeClr val="tx1"/>
                </a:solidFill>
              </a:rPr>
              <a:t>Emergency services will reach faster, resulting in saving more lives and property.</a:t>
            </a:r>
          </a:p>
          <a:p>
            <a:pPr marL="285750" indent="-285750">
              <a:buFont typeface="Wingdings" panose="05000000000000000000" charset="0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dirty="0">
                <a:solidFill>
                  <a:schemeClr val="tx1"/>
                </a:solidFill>
              </a:rPr>
              <a:t>Public satisfaction &amp; trust in smart city systems.</a:t>
            </a:r>
          </a:p>
          <a:p>
            <a:pPr marL="285750" indent="-285750">
              <a:buFont typeface="Wingdings" panose="05000000000000000000" charset="0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dirty="0">
                <a:solidFill>
                  <a:schemeClr val="tx1"/>
                </a:solidFill>
              </a:rPr>
              <a:t>Operational Cost Savings for Government</a:t>
            </a:r>
          </a:p>
          <a:p>
            <a:pPr marL="285750" indent="-285750">
              <a:buFont typeface="Wingdings" panose="05000000000000000000" charset="0"/>
              <a:buChar char="v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2" descr="https://www.sih.gov.in/img1/SIH-Logo.png">
            <a:extLst>
              <a:ext uri="{FF2B5EF4-FFF2-40B4-BE49-F238E27FC236}">
                <a16:creationId xmlns:a16="http://schemas.microsoft.com/office/drawing/2014/main" id="{0414C175-E2B9-42E4-62D3-ACBA21703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760" y="61282"/>
            <a:ext cx="1778725" cy="90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0C6FF340-05C2-2992-C782-B58B53E9E89E}"/>
              </a:ext>
            </a:extLst>
          </p:cNvPr>
          <p:cNvSpPr/>
          <p:nvPr/>
        </p:nvSpPr>
        <p:spPr>
          <a:xfrm>
            <a:off x="91619" y="72857"/>
            <a:ext cx="1957100" cy="3987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 err="1"/>
              <a:t>AlgoRangers</a:t>
            </a:r>
            <a:endParaRPr lang="en-US" alt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3103"/>
            <a:ext cx="10972800" cy="6858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9" name="Oval 8" descr="Your startup LOGO"/>
          <p:cNvSpPr/>
          <p:nvPr/>
        </p:nvSpPr>
        <p:spPr>
          <a:xfrm>
            <a:off x="91619" y="72857"/>
            <a:ext cx="1957100" cy="3987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 err="1"/>
              <a:t>AlgoRangers</a:t>
            </a:r>
            <a:endParaRPr lang="en-US" alt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17A2C9-9246-5530-383A-D7ADF61A9E69}"/>
              </a:ext>
            </a:extLst>
          </p:cNvPr>
          <p:cNvGrpSpPr/>
          <p:nvPr/>
        </p:nvGrpSpPr>
        <p:grpSpPr>
          <a:xfrm>
            <a:off x="1737939" y="1377464"/>
            <a:ext cx="8716123" cy="5057290"/>
            <a:chOff x="1555637" y="1377464"/>
            <a:chExt cx="8716123" cy="5057290"/>
          </a:xfrm>
        </p:grpSpPr>
        <p:sp>
          <p:nvSpPr>
            <p:cNvPr id="5" name="Text Box 4"/>
            <p:cNvSpPr txBox="1"/>
            <p:nvPr/>
          </p:nvSpPr>
          <p:spPr>
            <a:xfrm>
              <a:off x="1555637" y="1377464"/>
              <a:ext cx="2653019" cy="46166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/>
                <a:t>Category</a:t>
              </a:r>
            </a:p>
          </p:txBody>
        </p:sp>
        <p:sp>
          <p:nvSpPr>
            <p:cNvPr id="4" name="Flowchart: Alternate Process 3">
              <a:extLst>
                <a:ext uri="{FF2B5EF4-FFF2-40B4-BE49-F238E27FC236}">
                  <a16:creationId xmlns:a16="http://schemas.microsoft.com/office/drawing/2014/main" id="{88F3064F-18C3-F66C-4578-6C7D33E2F903}"/>
                </a:ext>
              </a:extLst>
            </p:cNvPr>
            <p:cNvSpPr/>
            <p:nvPr/>
          </p:nvSpPr>
          <p:spPr>
            <a:xfrm>
              <a:off x="1555638" y="2453697"/>
              <a:ext cx="2653018" cy="588204"/>
            </a:xfrm>
            <a:prstGeom prst="flowChartAlternateProcess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Adaptive Signals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Flowchart: Alternate Process 31">
              <a:extLst>
                <a:ext uri="{FF2B5EF4-FFF2-40B4-BE49-F238E27FC236}">
                  <a16:creationId xmlns:a16="http://schemas.microsoft.com/office/drawing/2014/main" id="{2D0746F7-2F1E-5982-98A5-C9456695C8A4}"/>
                </a:ext>
              </a:extLst>
            </p:cNvPr>
            <p:cNvSpPr/>
            <p:nvPr/>
          </p:nvSpPr>
          <p:spPr>
            <a:xfrm>
              <a:off x="1555638" y="3888444"/>
              <a:ext cx="2660568" cy="588204"/>
            </a:xfrm>
            <a:prstGeom prst="flowChartAlternateProcess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Emergency Prioritization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Flowchart: Alternate Process 32">
              <a:extLst>
                <a:ext uri="{FF2B5EF4-FFF2-40B4-BE49-F238E27FC236}">
                  <a16:creationId xmlns:a16="http://schemas.microsoft.com/office/drawing/2014/main" id="{F582F185-D5EE-ED4F-2495-68B68CCA3D00}"/>
                </a:ext>
              </a:extLst>
            </p:cNvPr>
            <p:cNvSpPr/>
            <p:nvPr/>
          </p:nvSpPr>
          <p:spPr>
            <a:xfrm>
              <a:off x="1555638" y="5468883"/>
              <a:ext cx="2660568" cy="588204"/>
            </a:xfrm>
            <a:prstGeom prst="flowChartAlternateProcess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Dynamic Lane Dividers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Text Box 4">
              <a:extLst>
                <a:ext uri="{FF2B5EF4-FFF2-40B4-BE49-F238E27FC236}">
                  <a16:creationId xmlns:a16="http://schemas.microsoft.com/office/drawing/2014/main" id="{FADCF901-29AE-AA6D-03F9-04BBA9B38989}"/>
                </a:ext>
              </a:extLst>
            </p:cNvPr>
            <p:cNvSpPr txBox="1"/>
            <p:nvPr/>
          </p:nvSpPr>
          <p:spPr>
            <a:xfrm>
              <a:off x="4877994" y="1383222"/>
              <a:ext cx="5393766" cy="46166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/>
                <a:t>Examples and References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037002A-1E57-3B91-8A67-BF700263A11F}"/>
                </a:ext>
              </a:extLst>
            </p:cNvPr>
            <p:cNvSpPr/>
            <p:nvPr/>
          </p:nvSpPr>
          <p:spPr>
            <a:xfrm>
              <a:off x="4877994" y="2224694"/>
              <a:ext cx="5393766" cy="10491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600" b="1" dirty="0">
                  <a:solidFill>
                    <a:schemeClr val="tx1"/>
                  </a:solidFill>
                </a:rPr>
                <a:t>Chennai implementations:- </a:t>
              </a:r>
            </a:p>
            <a:p>
              <a:r>
                <a:rPr lang="fr-FR" sz="1200" dirty="0">
                  <a:solidFill>
                    <a:schemeClr val="tx1"/>
                  </a:solidFill>
                </a:rPr>
                <a:t>https://timesofindia.indiatimes.com/city/chennai/ai-driven-adaptive-signals-to-cut-wait-times-at-165-junctions/articleshow/123103169.cms?utm_source=chatgpt.com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0691EEA-19A9-A6E2-DF77-326621394B3D}"/>
                </a:ext>
              </a:extLst>
            </p:cNvPr>
            <p:cNvSpPr/>
            <p:nvPr/>
          </p:nvSpPr>
          <p:spPr>
            <a:xfrm>
              <a:off x="4877993" y="3657955"/>
              <a:ext cx="5393767" cy="10491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/>
                  </a:solidFill>
                </a:rPr>
                <a:t>Emergency control system:-</a:t>
              </a:r>
            </a:p>
            <a:p>
              <a:r>
                <a:rPr lang="en-US" sz="1400" dirty="0">
                  <a:solidFill>
                    <a:schemeClr val="tx1"/>
                  </a:solidFill>
                </a:rPr>
                <a:t>https://www.ijraset.com/research-paper/iot-enabled-smart-traffic-management-and-alert-system? utm_source=chatgpt.com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D85CD7B-9A1F-593C-566B-27FD28C15B1E}"/>
                </a:ext>
              </a:extLst>
            </p:cNvPr>
            <p:cNvSpPr/>
            <p:nvPr/>
          </p:nvSpPr>
          <p:spPr>
            <a:xfrm>
              <a:off x="4877993" y="5091216"/>
              <a:ext cx="5393767" cy="13435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/>
                  </a:solidFill>
                </a:rPr>
                <a:t>IOT + ML movable dividers research:-</a:t>
              </a:r>
            </a:p>
            <a:p>
              <a:r>
                <a:rPr lang="en-US" sz="1400" dirty="0">
                  <a:solidFill>
                    <a:schemeClr val="tx1"/>
                  </a:solidFill>
                </a:rPr>
                <a:t>https://iarjset.com/papers/automatic-movable-smart-road-divider-using-iot/?utm_source=chatgpt.com https://www.pices-journal.com/ojs/index.php/pices/article/view/241?utm_source=chatgpt.com</a:t>
              </a:r>
            </a:p>
          </p:txBody>
        </p:sp>
      </p:grpSp>
      <p:pic>
        <p:nvPicPr>
          <p:cNvPr id="3" name="Picture 2" descr="https://www.sih.gov.in/img1/SIH-Logo.png">
            <a:extLst>
              <a:ext uri="{FF2B5EF4-FFF2-40B4-BE49-F238E27FC236}">
                <a16:creationId xmlns:a16="http://schemas.microsoft.com/office/drawing/2014/main" id="{56282B8A-19A9-BF5C-05D0-89FA15057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760" y="61282"/>
            <a:ext cx="1778725" cy="90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416</Words>
  <Application>Microsoft Office PowerPoint</Application>
  <PresentationFormat>Widescreen</PresentationFormat>
  <Paragraphs>100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MS PGothic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URBANFLOW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Kartik Sharma</cp:lastModifiedBy>
  <cp:revision>187</cp:revision>
  <dcterms:created xsi:type="dcterms:W3CDTF">2013-12-12T18:46:00Z</dcterms:created>
  <dcterms:modified xsi:type="dcterms:W3CDTF">2025-09-19T04:44:56Z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172A8E6775284232817A4948E25192D9_12</vt:lpwstr>
  </property>
  <property fmtid="{D5CDD505-2E9C-101B-9397-08002B2CF9AE}" pid="3" name="KSOProductBuildVer">
    <vt:lpwstr>1033-12.2.0.21931</vt:lpwstr>
  </property>
</Properties>
</file>